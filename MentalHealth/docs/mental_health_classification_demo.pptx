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3A427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NLP CLASSIFICATION  •  PROJECT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Reddit Mental Health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Classification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5 NLP approaches — from TF-IDF to zero-shot transformers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  ·   anxiety   ·   crisis   ·   neutral   ·   loneliness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Mental-Health Signal in Reddit Posts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route a post into a mental-health topic —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depression, anxiety, crisis, neutral, or loneliness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moment it's written.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Early-signal triage for moderation queues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routing to the right peer-support community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 crisis-response alerting layer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 — a topic-classification exercise on public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85232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 scraped 2019–2022 from r/depression, r/Anxiety, r/SuicideWatch, r/mentalhealth, r/lonely — cleaned, labeled, and stratified into train / val / test.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5204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17,501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75120" y="40416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35204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3,751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75320" y="40416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0" y="35204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3,751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875520" y="40416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4617720"/>
            <a:ext cx="4663440" cy="0"/>
          </a:xfrm>
          <a:prstGeom prst="line">
            <a:avLst/>
          </a:prstGeom>
          <a:noFill/>
          <a:ln w="12700">
            <a:solidFill>
              <a:srgbClr val="3E47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source subreddits  →  5 label classes  →  5 candidate models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Management &amp;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571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— notebook, app, and model artifacts tracked with a clean, gitignored history.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565904" y="187452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65904" y="2286000"/>
            <a:ext cx="30571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Kanban board — Backlog → In Progress → Review → Done, one card per modeling milestone.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354568" y="187452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54568" y="2286000"/>
            <a:ext cx="30571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(TF-IDF → RNN → BiLSTM → DistilBERT → Zero-Shot) shipped as its own tracked increment.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Jira Kanban board screenshot here 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709160"/>
            <a:ext cx="2384298" cy="1280160"/>
          </a:xfrm>
          <a:prstGeom prst="roundRect">
            <a:avLst>
              <a:gd name="adj" fmla="val 5714"/>
            </a:avLst>
          </a:prstGeom>
          <a:solidFill>
            <a:srgbClr val="141B49"/>
          </a:solidFill>
          <a:ln w="12700">
            <a:solidFill>
              <a:srgbClr val="3E47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800600"/>
            <a:ext cx="210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73018" y="4709160"/>
            <a:ext cx="2384298" cy="1280160"/>
          </a:xfrm>
          <a:prstGeom prst="roundRect">
            <a:avLst>
              <a:gd name="adj" fmla="val 5714"/>
            </a:avLst>
          </a:prstGeom>
          <a:solidFill>
            <a:srgbClr val="141B49"/>
          </a:solidFill>
          <a:ln w="12700">
            <a:solidFill>
              <a:srgbClr val="3E47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0178" y="4800600"/>
            <a:ext cx="210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4709160"/>
            <a:ext cx="2384298" cy="1280160"/>
          </a:xfrm>
          <a:prstGeom prst="roundRect">
            <a:avLst>
              <a:gd name="adj" fmla="val 5714"/>
            </a:avLst>
          </a:prstGeom>
          <a:solidFill>
            <a:srgbClr val="141B49"/>
          </a:solidFill>
          <a:ln w="12700">
            <a:solidFill>
              <a:srgbClr val="3E47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8796" y="4800600"/>
            <a:ext cx="210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90254" y="4709160"/>
            <a:ext cx="2384298" cy="1280160"/>
          </a:xfrm>
          <a:prstGeom prst="roundRect">
            <a:avLst>
              <a:gd name="adj" fmla="val 5714"/>
            </a:avLst>
          </a:prstGeom>
          <a:solidFill>
            <a:srgbClr val="141B49"/>
          </a:solidFill>
          <a:ln w="12700">
            <a:solidFill>
              <a:srgbClr val="3E47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7414" y="4800600"/>
            <a:ext cx="21099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DF1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Reddit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80360" y="192024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DF1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9202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Label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23560" y="192024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202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models trained / evaluated in parallel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072030" cy="868680"/>
          </a:xfrm>
          <a:prstGeom prst="roundRect">
            <a:avLst>
              <a:gd name="adj" fmla="val 8421"/>
            </a:avLst>
          </a:prstGeom>
          <a:solidFill>
            <a:srgbClr val="3A42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20720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03550" y="3429000"/>
            <a:ext cx="2072030" cy="868680"/>
          </a:xfrm>
          <a:prstGeom prst="roundRect">
            <a:avLst>
              <a:gd name="adj" fmla="val 8421"/>
            </a:avLst>
          </a:prstGeom>
          <a:solidFill>
            <a:srgbClr val="3A4270"/>
          </a:solidFill>
          <a:ln/>
        </p:spPr>
      </p:sp>
      <p:sp>
        <p:nvSpPr>
          <p:cNvPr id="16" name="Text 14"/>
          <p:cNvSpPr/>
          <p:nvPr/>
        </p:nvSpPr>
        <p:spPr>
          <a:xfrm>
            <a:off x="2803550" y="3429000"/>
            <a:ext cx="20720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58461" y="3429000"/>
            <a:ext cx="2072030" cy="868680"/>
          </a:xfrm>
          <a:prstGeom prst="roundRect">
            <a:avLst>
              <a:gd name="adj" fmla="val 8421"/>
            </a:avLst>
          </a:prstGeom>
          <a:solidFill>
            <a:srgbClr val="3A4270"/>
          </a:solidFill>
          <a:ln/>
        </p:spPr>
      </p:sp>
      <p:sp>
        <p:nvSpPr>
          <p:cNvPr id="18" name="Text 16"/>
          <p:cNvSpPr/>
          <p:nvPr/>
        </p:nvSpPr>
        <p:spPr>
          <a:xfrm>
            <a:off x="5058461" y="3429000"/>
            <a:ext cx="20720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3371" y="3429000"/>
            <a:ext cx="2072030" cy="868680"/>
          </a:xfrm>
          <a:prstGeom prst="roundRect">
            <a:avLst>
              <a:gd name="adj" fmla="val 8421"/>
            </a:avLst>
          </a:prstGeom>
          <a:solidFill>
            <a:srgbClr val="3A427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3371" y="3429000"/>
            <a:ext cx="20720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68282" y="3429000"/>
            <a:ext cx="2072030" cy="868680"/>
          </a:xfrm>
          <a:prstGeom prst="roundRect">
            <a:avLst>
              <a:gd name="adj" fmla="val 8421"/>
            </a:avLst>
          </a:prstGeom>
          <a:solidFill>
            <a:srgbClr val="3A4270"/>
          </a:solidFill>
          <a:ln/>
        </p:spPr>
      </p:sp>
      <p:sp>
        <p:nvSpPr>
          <p:cNvPr id="22" name="Text 20"/>
          <p:cNvSpPr/>
          <p:nvPr/>
        </p:nvSpPr>
        <p:spPr>
          <a:xfrm>
            <a:off x="9568282" y="3429000"/>
            <a:ext cx="20720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37083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DF1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Comparison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(accuracy, macro-F1, latency)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47091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760720" y="470916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47091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in → all 5 model predictions 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Approaches, One Task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5778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n-gram features, linear classifier — fast, interpretable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(Elman)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Single-direction recurrence over word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LSTM — reads context forward and backward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(fine-tuned)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transformer, fine-tuned on the labeled training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(BART-large-mnli)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(zero-shot)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— NLI entailment against the label names at inference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Test Set</a:t>
            </a:r>
            <a:endParaRPr lang="en-US" sz="2700" dirty="0"/>
          </a:p>
        </p:txBody>
      </p:sp>
      <p:pic>
        <p:nvPicPr>
          <p:cNvPr id="4" name="Image 0" descr="/Users/sivamanisubrahmanyaharivamsipullipudi/Downloads/MentalHealth/reports/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577840" cy="288036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91640"/>
          <a:ext cx="56052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960120"/>
                <a:gridCol w="10515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Infer. ms/sample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LogReg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(BART)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(no training)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CPU-bound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035040" y="4709160"/>
            <a:ext cx="5605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cell was added to the notebook but not yet re-run — see docs note.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 — Test Set</a:t>
            </a:r>
            <a:endParaRPr lang="en-US" sz="2700" dirty="0"/>
          </a:p>
        </p:txBody>
      </p:sp>
      <p:pic>
        <p:nvPicPr>
          <p:cNvPr id="4" name="Image 0" descr="/Users/sivamanisubrahmanyaharivamsipullipudi/Downloads/MentalHealth/reports/distilbert_test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9496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22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100" dirty="0"/>
          </a:p>
        </p:txBody>
      </p:sp>
      <p:pic>
        <p:nvPicPr>
          <p:cNvPr id="6" name="Image 1" descr="/Users/sivamanisubrahmanyaharivamsipullipudi/Downloads/MentalHealth/reports/tf-idf_test_confusion_matri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394960" cy="2148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3822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</a:t>
            </a:r>
            <a:endParaRPr lang="en-US" sz="1100" dirty="0"/>
          </a:p>
        </p:txBody>
      </p:sp>
      <p:pic>
        <p:nvPicPr>
          <p:cNvPr id="8" name="Image 2" descr="/Users/sivamanisubrahmanyaharivamsipullipudi/Downloads/MentalHealth/reports/lstm_test_confusion_matrix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160520"/>
            <a:ext cx="5394960" cy="2148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291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00" dirty="0"/>
          </a:p>
        </p:txBody>
      </p:sp>
      <p:pic>
        <p:nvPicPr>
          <p:cNvPr id="10" name="Image 3" descr="/Users/sivamanisubrahmanyaharivamsipullipudi/Downloads/MentalHealth/reports/rnn_test_confusion_matrix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4160520"/>
            <a:ext cx="5394960" cy="2148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7920" y="6291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DistilBERT / TF-IDF Win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wins accuracy-per-second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10771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latency, fully interpretable (inspect top n-gram weights), trains in seconds — the right default baseline.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wins raw accuracy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136392"/>
            <a:ext cx="10771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macro-F1 overall, at ~100x TF-IDF's inference cost and a GPU-bound training run.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1363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4048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underperforms BiLSTM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187952"/>
            <a:ext cx="10771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Single-direction memory loses earlier context over a ~120-word post; bidirectional reading largely fixes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6519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9204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trades accuracy for flexibility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239512"/>
            <a:ext cx="10771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labeled data, instant adaptation to new label sets — valuable when categories change faster than you can re-annotate.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Try It Yourself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text box — anyone types a post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predict side by side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 and latency (ms) per model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generated to open the deployed app on a phone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crisis warning banner if any model flags "crisis"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85232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Live Audience Wall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submits via a Google Form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polls the published Google Sheet CSV — no login/API key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response classified live, on the presenter's screen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crisis-flag banner surfaces for the whole room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compared end-to-end — TF-IDF is the production default, DistilBERT is the accuracy ceiling.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zero-shot evaluation cell to complete the 5-model comparison table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labeled data for the "crisis" class — likely the smallest, highest-stakes class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distillation / quantization for lighter deployment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production monitoring specifically on "crisis" predictions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— Multi-Class Topic Classification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2026-08-07T08:52:15Z</dcterms:created>
  <dcterms:modified xsi:type="dcterms:W3CDTF">2026-08-07T08:52:15Z</dcterms:modified>
</cp:coreProperties>
</file>